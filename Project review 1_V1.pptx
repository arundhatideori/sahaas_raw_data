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2"/>
  </p:notesMasterIdLst>
  <p:handoutMasterIdLst>
    <p:handoutMasterId r:id="rId13"/>
  </p:handoutMasterIdLst>
  <p:sldIdLst>
    <p:sldId id="266" r:id="rId5"/>
    <p:sldId id="262" r:id="rId6"/>
    <p:sldId id="269" r:id="rId7"/>
    <p:sldId id="268" r:id="rId8"/>
    <p:sldId id="265" r:id="rId9"/>
    <p:sldId id="263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23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ersonal%20Folder\IIMB%20BAAI\Project\Sahas%20Project\Latest%20Data\ED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ersonal%20Folder\IIMB%20BAAI\Project\Sahas%20Project\Latest%20Data\ED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Personal%20Folder\IIMB%20BAAI\Project\Sahas%20Project\Latest%20Data\ED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Personal%20Folder\IIMB%20BAAI\Project\Sahas%20Project\Latest%20Data\ED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Yearly</a:t>
            </a:r>
            <a:r>
              <a:rPr lang="en-IN" baseline="0"/>
              <a:t> Distribution of Top 5 Category</a:t>
            </a:r>
          </a:p>
        </c:rich>
      </c:tx>
      <c:layout>
        <c:manualLayout>
          <c:xMode val="edge"/>
          <c:yMode val="edge"/>
          <c:x val="0.18597900262467193"/>
          <c:y val="1.85185185185185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Sheet5!$A$4</c:f>
              <c:strCache>
                <c:ptCount val="1"/>
                <c:pt idx="0">
                  <c:v>Refrigerator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Sheet5!$B$3:$H$3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Sheet5!$B$4:$H$4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450</c:v>
                </c:pt>
                <c:pt idx="3">
                  <c:v>708</c:v>
                </c:pt>
                <c:pt idx="4">
                  <c:v>972</c:v>
                </c:pt>
                <c:pt idx="5">
                  <c:v>430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89-4198-BCE4-CD5DA8D3783A}"/>
            </c:ext>
          </c:extLst>
        </c:ser>
        <c:ser>
          <c:idx val="1"/>
          <c:order val="1"/>
          <c:tx>
            <c:strRef>
              <c:f>Sheet5!$A$5</c:f>
              <c:strCache>
                <c:ptCount val="1"/>
                <c:pt idx="0">
                  <c:v>Washing Machine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Sheet5!$B$3:$H$3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Sheet5!$B$5:$H$5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128</c:v>
                </c:pt>
                <c:pt idx="3">
                  <c:v>227</c:v>
                </c:pt>
                <c:pt idx="4">
                  <c:v>112</c:v>
                </c:pt>
                <c:pt idx="5">
                  <c:v>1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89-4198-BCE4-CD5DA8D3783A}"/>
            </c:ext>
          </c:extLst>
        </c:ser>
        <c:ser>
          <c:idx val="2"/>
          <c:order val="2"/>
          <c:tx>
            <c:strRef>
              <c:f>Sheet5!$A$6</c:f>
              <c:strCache>
                <c:ptCount val="1"/>
                <c:pt idx="0">
                  <c:v>LED/LCD/TV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Sheet5!$B$3:$H$3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Sheet5!$B$6:$H$6</c:f>
              <c:numCache>
                <c:formatCode>General</c:formatCode>
                <c:ptCount val="7"/>
                <c:pt idx="0">
                  <c:v>0</c:v>
                </c:pt>
                <c:pt idx="1">
                  <c:v>268</c:v>
                </c:pt>
                <c:pt idx="2">
                  <c:v>160</c:v>
                </c:pt>
                <c:pt idx="3">
                  <c:v>40</c:v>
                </c:pt>
                <c:pt idx="4">
                  <c:v>0</c:v>
                </c:pt>
                <c:pt idx="5">
                  <c:v>0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689-4198-BCE4-CD5DA8D3783A}"/>
            </c:ext>
          </c:extLst>
        </c:ser>
        <c:ser>
          <c:idx val="3"/>
          <c:order val="3"/>
          <c:tx>
            <c:strRef>
              <c:f>Sheet5!$A$7</c:f>
              <c:strCache>
                <c:ptCount val="1"/>
                <c:pt idx="0">
                  <c:v>Mixed Ewaste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Sheet5!$B$3:$H$3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Sheet5!$B$7:$H$7</c:f>
              <c:numCache>
                <c:formatCode>General</c:formatCode>
                <c:ptCount val="7"/>
                <c:pt idx="0">
                  <c:v>1</c:v>
                </c:pt>
                <c:pt idx="1">
                  <c:v>21</c:v>
                </c:pt>
                <c:pt idx="2">
                  <c:v>25</c:v>
                </c:pt>
                <c:pt idx="3">
                  <c:v>52</c:v>
                </c:pt>
                <c:pt idx="4">
                  <c:v>64</c:v>
                </c:pt>
                <c:pt idx="5">
                  <c:v>58</c:v>
                </c:pt>
                <c:pt idx="6">
                  <c:v>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689-4198-BCE4-CD5DA8D3783A}"/>
            </c:ext>
          </c:extLst>
        </c:ser>
        <c:ser>
          <c:idx val="4"/>
          <c:order val="4"/>
          <c:tx>
            <c:strRef>
              <c:f>Sheet5!$A$8</c:f>
              <c:strCache>
                <c:ptCount val="1"/>
                <c:pt idx="0">
                  <c:v>Printer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Sheet5!$B$3:$H$3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Sheet5!$B$8:$H$8</c:f>
              <c:numCache>
                <c:formatCode>General</c:formatCode>
                <c:ptCount val="7"/>
                <c:pt idx="0">
                  <c:v>0</c:v>
                </c:pt>
                <c:pt idx="1">
                  <c:v>65</c:v>
                </c:pt>
                <c:pt idx="2">
                  <c:v>92</c:v>
                </c:pt>
                <c:pt idx="3">
                  <c:v>96</c:v>
                </c:pt>
                <c:pt idx="4">
                  <c:v>56</c:v>
                </c:pt>
                <c:pt idx="5">
                  <c:v>79</c:v>
                </c:pt>
                <c:pt idx="6">
                  <c:v>144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689-4198-BCE4-CD5DA8D378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29197856"/>
        <c:axId val="2029185376"/>
      </c:barChart>
      <c:catAx>
        <c:axId val="2029197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9185376"/>
        <c:crosses val="autoZero"/>
        <c:auto val="1"/>
        <c:lblAlgn val="ctr"/>
        <c:lblOffset val="100"/>
        <c:noMultiLvlLbl val="0"/>
      </c:catAx>
      <c:valAx>
        <c:axId val="2029185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9197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tx1">
        <a:alpha val="42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663-49B5-8423-069E21428C1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663-49B5-8423-069E21428C1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663-49B5-8423-069E21428C1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663-49B5-8423-069E21428C1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663-49B5-8423-069E21428C14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Full_EDa!$D$11:$D$15</c:f>
              <c:strCache>
                <c:ptCount val="5"/>
                <c:pt idx="0">
                  <c:v>ZWP</c:v>
                </c:pt>
                <c:pt idx="1">
                  <c:v>Ewaste</c:v>
                </c:pt>
                <c:pt idx="2">
                  <c:v>MRF</c:v>
                </c:pt>
                <c:pt idx="3">
                  <c:v>Plastics</c:v>
                </c:pt>
                <c:pt idx="4">
                  <c:v>Others</c:v>
                </c:pt>
              </c:strCache>
            </c:strRef>
          </c:cat>
          <c:val>
            <c:numRef>
              <c:f>Full_EDa!$E$11:$E$15</c:f>
              <c:numCache>
                <c:formatCode>0.00%</c:formatCode>
                <c:ptCount val="5"/>
                <c:pt idx="0">
                  <c:v>0.17963059712959834</c:v>
                </c:pt>
                <c:pt idx="1">
                  <c:v>0.16880000000000001</c:v>
                </c:pt>
                <c:pt idx="2">
                  <c:v>0.23842158640400751</c:v>
                </c:pt>
                <c:pt idx="3">
                  <c:v>0.28460000000000002</c:v>
                </c:pt>
                <c:pt idx="4">
                  <c:v>0.12854781646639424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663-49B5-8423-069E21428C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Vendors</a:t>
            </a:r>
            <a:r>
              <a:rPr lang="en-IN" baseline="0"/>
              <a:t> per Business Vertical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Sheet5!$A$42:$A$45</c:f>
              <c:strCache>
                <c:ptCount val="4"/>
                <c:pt idx="0">
                  <c:v>ZWP</c:v>
                </c:pt>
                <c:pt idx="1">
                  <c:v>E-Waste</c:v>
                </c:pt>
                <c:pt idx="2">
                  <c:v>MRF</c:v>
                </c:pt>
                <c:pt idx="3">
                  <c:v>Plastic Operations</c:v>
                </c:pt>
              </c:strCache>
            </c:strRef>
          </c:cat>
          <c:val>
            <c:numRef>
              <c:f>Sheet5!$B$42:$B$45</c:f>
              <c:numCache>
                <c:formatCode>General</c:formatCode>
                <c:ptCount val="4"/>
                <c:pt idx="0">
                  <c:v>299</c:v>
                </c:pt>
                <c:pt idx="1">
                  <c:v>366</c:v>
                </c:pt>
                <c:pt idx="2">
                  <c:v>473</c:v>
                </c:pt>
                <c:pt idx="3">
                  <c:v>612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E0-4665-98F8-BEFDABA892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29088896"/>
        <c:axId val="2029093696"/>
      </c:barChart>
      <c:catAx>
        <c:axId val="20290888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9093696"/>
        <c:crosses val="autoZero"/>
        <c:auto val="1"/>
        <c:lblAlgn val="ctr"/>
        <c:lblOffset val="100"/>
        <c:noMultiLvlLbl val="0"/>
      </c:catAx>
      <c:valAx>
        <c:axId val="20290936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9088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Sheet5!$D$20:$E$35</cx:f>
        <cx:lvl ptCount="16">
          <cx:pt idx="0">Refrigerator</cx:pt>
          <cx:pt idx="1">Washing Machine</cx:pt>
          <cx:pt idx="2">Charges</cx:pt>
          <cx:pt idx="3">ITEW 3</cx:pt>
          <cx:pt idx="4">Printer</cx:pt>
          <cx:pt idx="5">Refrigerator</cx:pt>
          <cx:pt idx="6">Washing Machine</cx:pt>
          <cx:pt idx="7">LED/LCD/TV</cx:pt>
          <cx:pt idx="8">Mixed Ewaste</cx:pt>
          <cx:pt idx="9">Mobiles</cx:pt>
          <cx:pt idx="10">Printer</cx:pt>
          <cx:pt idx="11">Refrigerator</cx:pt>
          <cx:pt idx="12">Washing Machine</cx:pt>
          <cx:pt idx="13">Printer</cx:pt>
          <cx:pt idx="14">Refrigerator</cx:pt>
          <cx:pt idx="15">Washing Machine</cx:pt>
        </cx:lvl>
        <cx:lvl ptCount="16">
          <cx:pt idx="0">SHARIF TRADERS</cx:pt>
          <cx:pt idx="1">SHARIF TRADERS</cx:pt>
          <cx:pt idx="2">ANKIT TRADELINK</cx:pt>
          <cx:pt idx="3">ANKIT TRADELINK</cx:pt>
          <cx:pt idx="4">ANKIT TRADELINK</cx:pt>
          <cx:pt idx="5">ANKIT TRADELINK</cx:pt>
          <cx:pt idx="6">ANKIT TRADELINK</cx:pt>
          <cx:pt idx="7">Patil Enterprises</cx:pt>
          <cx:pt idx="8">Patil Enterprises</cx:pt>
          <cx:pt idx="9">Patil Enterprises</cx:pt>
          <cx:pt idx="10">Patil Enterprises</cx:pt>
          <cx:pt idx="11">Patil Enterprises</cx:pt>
          <cx:pt idx="12">Patil Enterprises</cx:pt>
          <cx:pt idx="13">M M Tradelink</cx:pt>
          <cx:pt idx="14">M M Tradelink</cx:pt>
          <cx:pt idx="15">M M Tradelink</cx:pt>
        </cx:lvl>
      </cx:strDim>
      <cx:numDim type="size">
        <cx:f>Sheet5!$F$20:$F$35</cx:f>
        <cx:lvl ptCount="16" formatCode="General">
          <cx:pt idx="0">268</cx:pt>
          <cx:pt idx="1">68</cx:pt>
          <cx:pt idx="2">1</cx:pt>
          <cx:pt idx="3">1</cx:pt>
          <cx:pt idx="4">27</cx:pt>
          <cx:pt idx="5">258</cx:pt>
          <cx:pt idx="6">7</cx:pt>
          <cx:pt idx="7">15</cx:pt>
          <cx:pt idx="8">2</cx:pt>
          <cx:pt idx="9">8</cx:pt>
          <cx:pt idx="10">44</cx:pt>
          <cx:pt idx="11">216</cx:pt>
          <cx:pt idx="12">4</cx:pt>
          <cx:pt idx="13">42</cx:pt>
          <cx:pt idx="14">206</cx:pt>
          <cx:pt idx="15">27</cx:pt>
        </cx:lvl>
      </cx:numDim>
    </cx:data>
  </cx:chartData>
  <cx:chart>
    <cx:title pos="t" align="ctr" overlay="0"/>
    <cx:plotArea>
      <cx:plotAreaRegion>
        <cx:series layoutId="treemap" uniqueId="{CBD28CA2-348A-4D05-890A-A60658A84F6B}">
          <cx:tx>
            <cx:txData>
              <cx:f>Sheet5!$F$19</cx:f>
              <cx:v>Invoice Count</cx:v>
            </cx:txData>
          </cx:tx>
          <cx:dataLabels pos="inEnd"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2A2767-FEC0-45D8-A250-3A0CECEC10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D87BEA-720A-4B01-983C-6493C00177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38802-F28A-42D1-9BCA-40E34B52D6F0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F7142-7B6D-4E82-A762-17951F139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A5D6A-4E5C-4EA7-A13B-15A02BB533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A98BC-2DB8-47A3-A77F-B9E32C2662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6843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5794D-BDB5-4811-AA4A-B25E4EF28521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B1A04-13E8-48CD-97F9-AC2568E1A8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999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41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36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801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33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59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12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5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6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866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196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256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2241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389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244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544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616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47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8522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9FBB3149-8289-4060-BB01-ED3047C53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BAEF7DA-43C4-4736-B5A3-B48E6125A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909436B-313B-4D27-BD55-E8303EF45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3" name="Rectangle 5">
                <a:extLst>
                  <a:ext uri="{FF2B5EF4-FFF2-40B4-BE49-F238E27FC236}">
                    <a16:creationId xmlns:a16="http://schemas.microsoft.com/office/drawing/2014/main" id="{758BC0E2-32D9-41ED-907C-DA3C4A698E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6">
                <a:extLst>
                  <a:ext uri="{FF2B5EF4-FFF2-40B4-BE49-F238E27FC236}">
                    <a16:creationId xmlns:a16="http://schemas.microsoft.com/office/drawing/2014/main" id="{41E486E5-1757-4896-A762-4D0BE33091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7">
                <a:extLst>
                  <a:ext uri="{FF2B5EF4-FFF2-40B4-BE49-F238E27FC236}">
                    <a16:creationId xmlns:a16="http://schemas.microsoft.com/office/drawing/2014/main" id="{5812B4BD-11B4-43E6-B3D0-1F424A9FD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8">
                <a:extLst>
                  <a:ext uri="{FF2B5EF4-FFF2-40B4-BE49-F238E27FC236}">
                    <a16:creationId xmlns:a16="http://schemas.microsoft.com/office/drawing/2014/main" id="{6A0E1D38-C2A3-42C9-920D-F40319CE16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9">
                <a:extLst>
                  <a:ext uri="{FF2B5EF4-FFF2-40B4-BE49-F238E27FC236}">
                    <a16:creationId xmlns:a16="http://schemas.microsoft.com/office/drawing/2014/main" id="{3FAF6AF3-9B01-4BEB-BB6B-08B348511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0">
                <a:extLst>
                  <a:ext uri="{FF2B5EF4-FFF2-40B4-BE49-F238E27FC236}">
                    <a16:creationId xmlns:a16="http://schemas.microsoft.com/office/drawing/2014/main" id="{53F7FADA-61E9-4AAB-BED8-D6FD1BB545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1">
                <a:extLst>
                  <a:ext uri="{FF2B5EF4-FFF2-40B4-BE49-F238E27FC236}">
                    <a16:creationId xmlns:a16="http://schemas.microsoft.com/office/drawing/2014/main" id="{46419F9F-3EEC-45FF-98BB-4F20D5347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2">
                <a:extLst>
                  <a:ext uri="{FF2B5EF4-FFF2-40B4-BE49-F238E27FC236}">
                    <a16:creationId xmlns:a16="http://schemas.microsoft.com/office/drawing/2014/main" id="{1E081BCD-31AF-4E94-966D-497357D22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3">
                <a:extLst>
                  <a:ext uri="{FF2B5EF4-FFF2-40B4-BE49-F238E27FC236}">
                    <a16:creationId xmlns:a16="http://schemas.microsoft.com/office/drawing/2014/main" id="{5082EAA7-B95F-462F-8307-2C9EC1C35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Freeform 14">
                <a:extLst>
                  <a:ext uri="{FF2B5EF4-FFF2-40B4-BE49-F238E27FC236}">
                    <a16:creationId xmlns:a16="http://schemas.microsoft.com/office/drawing/2014/main" id="{E9A57125-4B73-448E-B7B7-94380A928D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5">
                <a:extLst>
                  <a:ext uri="{FF2B5EF4-FFF2-40B4-BE49-F238E27FC236}">
                    <a16:creationId xmlns:a16="http://schemas.microsoft.com/office/drawing/2014/main" id="{7290E834-81F0-42A1-B66B-33D4580573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Line 16">
                <a:extLst>
                  <a:ext uri="{FF2B5EF4-FFF2-40B4-BE49-F238E27FC236}">
                    <a16:creationId xmlns:a16="http://schemas.microsoft.com/office/drawing/2014/main" id="{C9FA5563-6ED2-4EAC-A8ED-DF71850A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7">
                <a:extLst>
                  <a:ext uri="{FF2B5EF4-FFF2-40B4-BE49-F238E27FC236}">
                    <a16:creationId xmlns:a16="http://schemas.microsoft.com/office/drawing/2014/main" id="{50479572-5CA3-41F4-8BDC-F039335C2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18">
                <a:extLst>
                  <a:ext uri="{FF2B5EF4-FFF2-40B4-BE49-F238E27FC236}">
                    <a16:creationId xmlns:a16="http://schemas.microsoft.com/office/drawing/2014/main" id="{4156CB6F-DF65-4A51-A840-7A4177BDF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Freeform 19">
                <a:extLst>
                  <a:ext uri="{FF2B5EF4-FFF2-40B4-BE49-F238E27FC236}">
                    <a16:creationId xmlns:a16="http://schemas.microsoft.com/office/drawing/2014/main" id="{9252974F-88C0-4CAA-A42D-E94E2B7A6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0">
                <a:extLst>
                  <a:ext uri="{FF2B5EF4-FFF2-40B4-BE49-F238E27FC236}">
                    <a16:creationId xmlns:a16="http://schemas.microsoft.com/office/drawing/2014/main" id="{DE3974B2-2875-4AFE-A30A-6EE823E579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Rectangle 21">
                <a:extLst>
                  <a:ext uri="{FF2B5EF4-FFF2-40B4-BE49-F238E27FC236}">
                    <a16:creationId xmlns:a16="http://schemas.microsoft.com/office/drawing/2014/main" id="{948A52FE-E1B0-4297-BBBE-C860B4E3D3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2">
                <a:extLst>
                  <a:ext uri="{FF2B5EF4-FFF2-40B4-BE49-F238E27FC236}">
                    <a16:creationId xmlns:a16="http://schemas.microsoft.com/office/drawing/2014/main" id="{C6E71B5D-6B02-417C-A0CF-4447C55F2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3">
                <a:extLst>
                  <a:ext uri="{FF2B5EF4-FFF2-40B4-BE49-F238E27FC236}">
                    <a16:creationId xmlns:a16="http://schemas.microsoft.com/office/drawing/2014/main" id="{0FB94710-B373-451B-84A2-947DDB4564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4">
                <a:extLst>
                  <a:ext uri="{FF2B5EF4-FFF2-40B4-BE49-F238E27FC236}">
                    <a16:creationId xmlns:a16="http://schemas.microsoft.com/office/drawing/2014/main" id="{4E47778B-FD55-4A2C-A53F-E548158C89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DA2A4F49-8FC4-4F12-8707-A6CC117E5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6">
                <a:extLst>
                  <a:ext uri="{FF2B5EF4-FFF2-40B4-BE49-F238E27FC236}">
                    <a16:creationId xmlns:a16="http://schemas.microsoft.com/office/drawing/2014/main" id="{2293D140-51FA-484D-8464-785D8FD3D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7">
                <a:extLst>
                  <a:ext uri="{FF2B5EF4-FFF2-40B4-BE49-F238E27FC236}">
                    <a16:creationId xmlns:a16="http://schemas.microsoft.com/office/drawing/2014/main" id="{AA66B21A-3C7F-426E-9C38-C0D6AEF13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28">
                <a:extLst>
                  <a:ext uri="{FF2B5EF4-FFF2-40B4-BE49-F238E27FC236}">
                    <a16:creationId xmlns:a16="http://schemas.microsoft.com/office/drawing/2014/main" id="{F22F8B0E-04B8-4D29-9E19-CACDAE6AB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29">
                <a:extLst>
                  <a:ext uri="{FF2B5EF4-FFF2-40B4-BE49-F238E27FC236}">
                    <a16:creationId xmlns:a16="http://schemas.microsoft.com/office/drawing/2014/main" id="{E0D8C2CC-1759-4605-B3C9-DA4B1EF250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8" name="Freeform 30">
                <a:extLst>
                  <a:ext uri="{FF2B5EF4-FFF2-40B4-BE49-F238E27FC236}">
                    <a16:creationId xmlns:a16="http://schemas.microsoft.com/office/drawing/2014/main" id="{547A4BC3-AA95-4A78-AC23-65A4CE843B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9" name="Freeform 31">
                <a:extLst>
                  <a:ext uri="{FF2B5EF4-FFF2-40B4-BE49-F238E27FC236}">
                    <a16:creationId xmlns:a16="http://schemas.microsoft.com/office/drawing/2014/main" id="{93059BC9-C7C3-41F9-8BBA-7BF49FF602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335FE01-8192-4D2A-93F8-2F680F728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3" name="Freeform 32">
                <a:extLst>
                  <a:ext uri="{FF2B5EF4-FFF2-40B4-BE49-F238E27FC236}">
                    <a16:creationId xmlns:a16="http://schemas.microsoft.com/office/drawing/2014/main" id="{A150A82A-9896-4D5B-BAA5-0A7ECD0789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3">
                <a:extLst>
                  <a:ext uri="{FF2B5EF4-FFF2-40B4-BE49-F238E27FC236}">
                    <a16:creationId xmlns:a16="http://schemas.microsoft.com/office/drawing/2014/main" id="{82641EF7-9CDB-40BE-A964-13F866165C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4">
                <a:extLst>
                  <a:ext uri="{FF2B5EF4-FFF2-40B4-BE49-F238E27FC236}">
                    <a16:creationId xmlns:a16="http://schemas.microsoft.com/office/drawing/2014/main" id="{A1D1CF16-B5BD-4021-9BA9-637569FC80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5">
                <a:extLst>
                  <a:ext uri="{FF2B5EF4-FFF2-40B4-BE49-F238E27FC236}">
                    <a16:creationId xmlns:a16="http://schemas.microsoft.com/office/drawing/2014/main" id="{FF13F72C-CC27-48A0-AC55-686AB9153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6">
                <a:extLst>
                  <a:ext uri="{FF2B5EF4-FFF2-40B4-BE49-F238E27FC236}">
                    <a16:creationId xmlns:a16="http://schemas.microsoft.com/office/drawing/2014/main" id="{0EC3BA8B-33ED-483D-935C-170AD0C4D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7">
                <a:extLst>
                  <a:ext uri="{FF2B5EF4-FFF2-40B4-BE49-F238E27FC236}">
                    <a16:creationId xmlns:a16="http://schemas.microsoft.com/office/drawing/2014/main" id="{C4C451E6-48CE-4642-B51D-FE44840872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38">
                <a:extLst>
                  <a:ext uri="{FF2B5EF4-FFF2-40B4-BE49-F238E27FC236}">
                    <a16:creationId xmlns:a16="http://schemas.microsoft.com/office/drawing/2014/main" id="{0F88F098-E44C-4A45-AE2B-595A7B8527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Freeform 39">
                <a:extLst>
                  <a:ext uri="{FF2B5EF4-FFF2-40B4-BE49-F238E27FC236}">
                    <a16:creationId xmlns:a16="http://schemas.microsoft.com/office/drawing/2014/main" id="{5B782B5D-8B67-4CD5-A0B3-8067BBB328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Freeform 40">
                <a:extLst>
                  <a:ext uri="{FF2B5EF4-FFF2-40B4-BE49-F238E27FC236}">
                    <a16:creationId xmlns:a16="http://schemas.microsoft.com/office/drawing/2014/main" id="{897A4906-0942-4CD6-840D-0915E0C4D0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Rectangle 41">
                <a:extLst>
                  <a:ext uri="{FF2B5EF4-FFF2-40B4-BE49-F238E27FC236}">
                    <a16:creationId xmlns:a16="http://schemas.microsoft.com/office/drawing/2014/main" id="{D1131789-2DD5-462E-9FC9-E25021F5CF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EAC88772-6DB3-49EC-9C8A-A0B46ACE3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359A83-DCF1-1514-58B7-832E4A076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80960" y="863600"/>
            <a:ext cx="4358640" cy="51714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Business use case – SZW*IIMB</a:t>
            </a:r>
            <a:br>
              <a:rPr lang="en-US" sz="3600" dirty="0"/>
            </a:br>
            <a:br>
              <a:rPr lang="en-US" sz="3600" dirty="0"/>
            </a:br>
            <a:r>
              <a:rPr lang="en-US" sz="1800" b="1" dirty="0">
                <a:solidFill>
                  <a:srgbClr val="FF0000"/>
                </a:solidFill>
              </a:rPr>
              <a:t>TEAM: </a:t>
            </a:r>
            <a:br>
              <a:rPr lang="en-US" sz="1800" b="1" dirty="0">
                <a:solidFill>
                  <a:srgbClr val="FF0000"/>
                </a:solidFill>
              </a:rPr>
            </a:br>
            <a:r>
              <a:rPr lang="en-US" sz="1800" b="1" dirty="0">
                <a:solidFill>
                  <a:srgbClr val="FF0000"/>
                </a:solidFill>
              </a:rPr>
              <a:t>Dipjyoti, Bharathi, </a:t>
            </a:r>
            <a:r>
              <a:rPr lang="en-US" sz="1800" b="1" dirty="0" err="1">
                <a:solidFill>
                  <a:srgbClr val="FF0000"/>
                </a:solidFill>
              </a:rPr>
              <a:t>Moitreyee</a:t>
            </a:r>
            <a:r>
              <a:rPr lang="en-US" sz="1800" b="1" dirty="0">
                <a:solidFill>
                  <a:srgbClr val="FF0000"/>
                </a:solidFill>
              </a:rPr>
              <a:t>, Rajesh</a:t>
            </a:r>
          </a:p>
        </p:txBody>
      </p:sp>
      <p:sp>
        <p:nvSpPr>
          <p:cNvPr id="53" name="Round Diagonal Corner Rectangle 6">
            <a:extLst>
              <a:ext uri="{FF2B5EF4-FFF2-40B4-BE49-F238E27FC236}">
                <a16:creationId xmlns:a16="http://schemas.microsoft.com/office/drawing/2014/main" id="{17A3DD84-FAA5-438A-8462-D1E01EA0D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55141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bg2"/>
          </a:solidFill>
          <a:ln w="190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81A05-B5C2-7253-8EE0-FCCF44BB76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252" y="1137919"/>
            <a:ext cx="6275388" cy="46532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Data is fragmented over </a:t>
            </a:r>
            <a:r>
              <a:rPr lang="en-US" sz="1800" b="1" dirty="0" err="1">
                <a:solidFill>
                  <a:srgbClr val="FF0000"/>
                </a:solidFill>
              </a:rPr>
              <a:t>zoho</a:t>
            </a:r>
            <a:r>
              <a:rPr lang="en-US" sz="1800" b="1" dirty="0">
                <a:solidFill>
                  <a:srgbClr val="FF0000"/>
                </a:solidFill>
              </a:rPr>
              <a:t> systems</a:t>
            </a:r>
          </a:p>
          <a:p>
            <a:r>
              <a:rPr lang="en-US" sz="1800" u="sng" dirty="0">
                <a:solidFill>
                  <a:schemeClr val="tx1"/>
                </a:solidFill>
              </a:rPr>
              <a:t>Problem STATEMENT </a:t>
            </a:r>
            <a:r>
              <a:rPr lang="en-US" sz="1800" dirty="0">
                <a:solidFill>
                  <a:schemeClr val="tx1"/>
                </a:solidFill>
              </a:rPr>
              <a:t>- Unification of data for :</a:t>
            </a:r>
          </a:p>
          <a:p>
            <a:pPr marL="228600"/>
            <a:r>
              <a:rPr lang="en-US" sz="1800" dirty="0">
                <a:solidFill>
                  <a:schemeClr val="tx1"/>
                </a:solidFill>
              </a:rPr>
              <a:t>1. </a:t>
            </a:r>
            <a:r>
              <a:rPr lang="en-US" sz="1800" b="1" i="1" dirty="0">
                <a:solidFill>
                  <a:srgbClr val="FFFF00"/>
                </a:solidFill>
              </a:rPr>
              <a:t>Vendor selection engine </a:t>
            </a:r>
          </a:p>
          <a:p>
            <a:pPr marL="914400" lvl="1" indent="-228600" algn="just">
              <a:buFont typeface="Arial" panose="020B0604020202020204" pitchFamily="34" charset="0"/>
              <a:buChar char="•"/>
            </a:pPr>
            <a:r>
              <a:rPr lang="en-US" sz="1800" dirty="0"/>
              <a:t>Based on historical data on Quantitative KPIs (Rate per kg/ Quantity/ Total Amount/ Material Type) and Qualitative KPIs (Debit Notes - Quality/ Location/ Compliance factors)</a:t>
            </a:r>
          </a:p>
          <a:p>
            <a:pPr marL="228600" algn="just"/>
            <a:r>
              <a:rPr lang="en-US" sz="1800" dirty="0">
                <a:solidFill>
                  <a:schemeClr val="tx1"/>
                </a:solidFill>
              </a:rPr>
              <a:t>2. </a:t>
            </a:r>
            <a:r>
              <a:rPr lang="en-US" sz="1800" b="1" i="1" dirty="0">
                <a:solidFill>
                  <a:srgbClr val="FFFF00"/>
                </a:solidFill>
              </a:rPr>
              <a:t>Price benchmarking</a:t>
            </a:r>
          </a:p>
          <a:p>
            <a:pPr marL="914400" lvl="1" indent="-228600" algn="just">
              <a:buFont typeface="Arial" panose="020B0604020202020204" pitchFamily="34" charset="0"/>
              <a:buChar char="•"/>
            </a:pPr>
            <a:r>
              <a:rPr lang="en-US" sz="1800" dirty="0"/>
              <a:t>Based on historical data a monthly forecast of the trend of prices and rate per kg – on which new vendors can be onboarded</a:t>
            </a:r>
          </a:p>
          <a:p>
            <a:r>
              <a:rPr lang="en-US" sz="1800" dirty="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6640D31-0CFD-4B3F-AE95-530AA5174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62562" y="0"/>
            <a:ext cx="0" cy="685800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  <a:alpha val="60000"/>
              </a:schemeClr>
            </a:solidFill>
          </a:ln>
          <a:effectLst>
            <a:outerShdw blurRad="88900" dist="38100" dir="5400000" algn="ctr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C06AFBD-6C20-2778-9D8F-660CB41C8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5763" y="5872480"/>
            <a:ext cx="974213" cy="8479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BF6172-457A-D752-BDBD-9FD85C7FFA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521" y="294640"/>
            <a:ext cx="4195456" cy="86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594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AE4726C-1831-4FE3-9A11-227F0DC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B651D7F7-8C54-448E-A268-1CBFAD87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E3B56E94-40E1-489A-98B2-A3238D66A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0C6CF69-60CD-2192-90F5-3F1905747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697" y="618518"/>
            <a:ext cx="6050713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DATA Source identification &amp; understanding</a:t>
            </a:r>
          </a:p>
        </p:txBody>
      </p:sp>
      <p:pic>
        <p:nvPicPr>
          <p:cNvPr id="6" name="Picture 5" descr="3D abstract blue and gold cube illustration">
            <a:extLst>
              <a:ext uri="{FF2B5EF4-FFF2-40B4-BE49-F238E27FC236}">
                <a16:creationId xmlns:a16="http://schemas.microsoft.com/office/drawing/2014/main" id="{EC5F8E78-42DE-52EE-303A-32FA32AC48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87" r="38157"/>
          <a:stretch>
            <a:fillRect/>
          </a:stretch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916825F-759B-4F1A-BA80-AF7137691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AF64541-DE3B-4DBB-84E1-907956469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9175DCC0-514A-4CA1-AD9A-1BB0FFF1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10371924-94D9-48AF-9D5B-6471775B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964FF9-A41A-438C-A22B-62690C98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61716CD6-1875-4567-B3E2-364CD0960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31A293D3-7189-453D-AB91-1291AAFF3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87CB4EFE-58B3-4326-9CFB-A2AFADDFA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249CF4D3-B5A3-4287-BC9D-E9BB8FA6E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4D2515F2-4D11-41AF-A6B1-7D084BEA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331BCBF4-0DC2-426E-84B3-AE38E403C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EC8AF156-0BE9-437D-A83B-87364146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AC8CB256-3F62-4406-88F5-CE2421FF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F3E812EB-415E-4B60-B0FB-65386882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EB4C95D7-8E6D-45EC-8CA1-9123D71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83F62FD2-2F62-4495-997C-8BD7F95AB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B7DFE0F9-22A3-4846-8D4E-0D193BD3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244DAF25-7415-491A-9FF6-E04BC2DC2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7ACA3646-863C-4D00-A58A-62C7FE71C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0EA18B38-BD42-45ED-8458-FB205DBC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45302917-5DBE-4CF2-B52F-478F93FD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5">
              <a:extLst>
                <a:ext uri="{FF2B5EF4-FFF2-40B4-BE49-F238E27FC236}">
                  <a16:creationId xmlns:a16="http://schemas.microsoft.com/office/drawing/2014/main" id="{8E61E6FD-D40E-479C-ABE9-2B69AE20D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6">
              <a:extLst>
                <a:ext uri="{FF2B5EF4-FFF2-40B4-BE49-F238E27FC236}">
                  <a16:creationId xmlns:a16="http://schemas.microsoft.com/office/drawing/2014/main" id="{2F4DEB4F-F824-48D7-AF9B-B5D905DCD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27">
              <a:extLst>
                <a:ext uri="{FF2B5EF4-FFF2-40B4-BE49-F238E27FC236}">
                  <a16:creationId xmlns:a16="http://schemas.microsoft.com/office/drawing/2014/main" id="{F76CFA02-6090-4464-B573-BCA350C90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28">
              <a:extLst>
                <a:ext uri="{FF2B5EF4-FFF2-40B4-BE49-F238E27FC236}">
                  <a16:creationId xmlns:a16="http://schemas.microsoft.com/office/drawing/2014/main" id="{51BE8BEC-76C7-41FE-AB76-35194C244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29">
              <a:extLst>
                <a:ext uri="{FF2B5EF4-FFF2-40B4-BE49-F238E27FC236}">
                  <a16:creationId xmlns:a16="http://schemas.microsoft.com/office/drawing/2014/main" id="{710F61D4-3B34-45A9-B9B7-CE0373AB4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30">
              <a:extLst>
                <a:ext uri="{FF2B5EF4-FFF2-40B4-BE49-F238E27FC236}">
                  <a16:creationId xmlns:a16="http://schemas.microsoft.com/office/drawing/2014/main" id="{451F080F-4CFB-4626-87CA-BB4CACA1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1">
              <a:extLst>
                <a:ext uri="{FF2B5EF4-FFF2-40B4-BE49-F238E27FC236}">
                  <a16:creationId xmlns:a16="http://schemas.microsoft.com/office/drawing/2014/main" id="{667BBD71-2295-4A66-B76C-F82175C2B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B6644DE8-5BD1-4D5F-B245-0D3A21BCE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4DE8FD0-E681-4D9C-85C2-BEA4C2B3A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D46033BD-1026-4388-B926-9D11E1D7C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1FA74D4C-2E28-42C5-A7FA-3C7D6BD8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FADF7B3F-903C-456C-983E-C9868DDAB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033F8698-1549-44AD-8DAD-0055D7B80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F1BDD4B6-46FD-4048-ADF1-32EADD9E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E7F387A7-B3BF-4B1A-BFCA-2D21AD3DF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7A1B6BC8-EA82-459D-A0E0-4EBE394E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1">
              <a:extLst>
                <a:ext uri="{FF2B5EF4-FFF2-40B4-BE49-F238E27FC236}">
                  <a16:creationId xmlns:a16="http://schemas.microsoft.com/office/drawing/2014/main" id="{8B94E190-DDC2-4545-906F-A1699BD73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42">
              <a:extLst>
                <a:ext uri="{FF2B5EF4-FFF2-40B4-BE49-F238E27FC236}">
                  <a16:creationId xmlns:a16="http://schemas.microsoft.com/office/drawing/2014/main" id="{D9807239-A5BA-4BB3-9194-BCE3B2F21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3">
              <a:extLst>
                <a:ext uri="{FF2B5EF4-FFF2-40B4-BE49-F238E27FC236}">
                  <a16:creationId xmlns:a16="http://schemas.microsoft.com/office/drawing/2014/main" id="{04D300FD-DC53-4375-8981-09EA63BCF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4">
              <a:extLst>
                <a:ext uri="{FF2B5EF4-FFF2-40B4-BE49-F238E27FC236}">
                  <a16:creationId xmlns:a16="http://schemas.microsoft.com/office/drawing/2014/main" id="{1DF83FFD-4C16-41FD-928F-6E88AFC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5B4BC2F-B667-462B-99D8-0C433124A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6">
              <a:extLst>
                <a:ext uri="{FF2B5EF4-FFF2-40B4-BE49-F238E27FC236}">
                  <a16:creationId xmlns:a16="http://schemas.microsoft.com/office/drawing/2014/main" id="{0CBD9EFB-AC61-4674-B75A-56449003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47">
              <a:extLst>
                <a:ext uri="{FF2B5EF4-FFF2-40B4-BE49-F238E27FC236}">
                  <a16:creationId xmlns:a16="http://schemas.microsoft.com/office/drawing/2014/main" id="{1AD4BBB0-F6A7-451F-BE09-DF619F38E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48">
              <a:extLst>
                <a:ext uri="{FF2B5EF4-FFF2-40B4-BE49-F238E27FC236}">
                  <a16:creationId xmlns:a16="http://schemas.microsoft.com/office/drawing/2014/main" id="{A258B285-AE5E-473A-AA72-3C95E1D8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49">
              <a:extLst>
                <a:ext uri="{FF2B5EF4-FFF2-40B4-BE49-F238E27FC236}">
                  <a16:creationId xmlns:a16="http://schemas.microsoft.com/office/drawing/2014/main" id="{7BEEDDE5-CB8A-4DF9-858F-4D9462D9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0">
              <a:extLst>
                <a:ext uri="{FF2B5EF4-FFF2-40B4-BE49-F238E27FC236}">
                  <a16:creationId xmlns:a16="http://schemas.microsoft.com/office/drawing/2014/main" id="{DA1C731B-9B66-4D65-BF47-04B11810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1">
              <a:extLst>
                <a:ext uri="{FF2B5EF4-FFF2-40B4-BE49-F238E27FC236}">
                  <a16:creationId xmlns:a16="http://schemas.microsoft.com/office/drawing/2014/main" id="{58DBFEC6-C6DC-4B7A-934F-5A79EC32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2">
              <a:extLst>
                <a:ext uri="{FF2B5EF4-FFF2-40B4-BE49-F238E27FC236}">
                  <a16:creationId xmlns:a16="http://schemas.microsoft.com/office/drawing/2014/main" id="{9948D8CB-2DBE-4E48-98EA-DF9E2666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3">
              <a:extLst>
                <a:ext uri="{FF2B5EF4-FFF2-40B4-BE49-F238E27FC236}">
                  <a16:creationId xmlns:a16="http://schemas.microsoft.com/office/drawing/2014/main" id="{56AB69F6-9F0B-4AB6-BCA8-AA2FD69E9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4">
              <a:extLst>
                <a:ext uri="{FF2B5EF4-FFF2-40B4-BE49-F238E27FC236}">
                  <a16:creationId xmlns:a16="http://schemas.microsoft.com/office/drawing/2014/main" id="{0E7FB426-288D-4B0B-B73B-10CCC0EF4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5">
              <a:extLst>
                <a:ext uri="{FF2B5EF4-FFF2-40B4-BE49-F238E27FC236}">
                  <a16:creationId xmlns:a16="http://schemas.microsoft.com/office/drawing/2014/main" id="{A5C59C6B-46C9-48C9-9F57-2EE738B5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6" name="Freeform 56">
              <a:extLst>
                <a:ext uri="{FF2B5EF4-FFF2-40B4-BE49-F238E27FC236}">
                  <a16:creationId xmlns:a16="http://schemas.microsoft.com/office/drawing/2014/main" id="{7CE85F33-17DC-4273-B06F-D17109444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Freeform 57">
              <a:extLst>
                <a:ext uri="{FF2B5EF4-FFF2-40B4-BE49-F238E27FC236}">
                  <a16:creationId xmlns:a16="http://schemas.microsoft.com/office/drawing/2014/main" id="{5CD001CF-F2C4-4810-A8D9-679F9F89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Freeform 58">
              <a:extLst>
                <a:ext uri="{FF2B5EF4-FFF2-40B4-BE49-F238E27FC236}">
                  <a16:creationId xmlns:a16="http://schemas.microsoft.com/office/drawing/2014/main" id="{69F4BCDD-D153-40D2-8DD1-2509EE0CE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7455855-F41A-F712-FF67-070641FBFE68}"/>
              </a:ext>
            </a:extLst>
          </p:cNvPr>
          <p:cNvSpPr/>
          <p:nvPr/>
        </p:nvSpPr>
        <p:spPr>
          <a:xfrm>
            <a:off x="1752600" y="2062480"/>
            <a:ext cx="2900680" cy="40117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  <a:p>
            <a:pPr algn="ctr">
              <a:lnSpc>
                <a:spcPct val="110000"/>
              </a:lnSpc>
              <a:spcAft>
                <a:spcPts val="600"/>
              </a:spcAft>
              <a:buSzPct val="125000"/>
            </a:pP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Data Sources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chemeClr val="tx1"/>
                </a:solidFill>
              </a:rPr>
              <a:t>Highly fragmented data on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  <a:p>
            <a:pPr marL="342900"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ZOHO Books</a:t>
            </a:r>
          </a:p>
          <a:p>
            <a:pPr marL="342900"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ZOHO VMS</a:t>
            </a:r>
          </a:p>
          <a:p>
            <a:pPr marL="342900"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ZOHO CRM</a:t>
            </a:r>
          </a:p>
          <a:p>
            <a:pPr marL="342900"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chemeClr val="tx1"/>
                </a:solidFill>
              </a:rPr>
              <a:t>Manual entries</a:t>
            </a:r>
          </a:p>
          <a:p>
            <a:pPr marL="342900"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4B6812-B418-EB5B-10AF-D85DB6002FD9}"/>
              </a:ext>
            </a:extLst>
          </p:cNvPr>
          <p:cNvSpPr/>
          <p:nvPr/>
        </p:nvSpPr>
        <p:spPr>
          <a:xfrm>
            <a:off x="5066938" y="1926771"/>
            <a:ext cx="6461033" cy="42236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IN" sz="2400" b="1" dirty="0">
              <a:solidFill>
                <a:schemeClr val="accent3">
                  <a:lumMod val="50000"/>
                </a:schemeClr>
              </a:solidFill>
            </a:endParaRPr>
          </a:p>
          <a:p>
            <a:pPr algn="ctr">
              <a:spcAft>
                <a:spcPts val="600"/>
              </a:spcAft>
            </a:pPr>
            <a:r>
              <a:rPr lang="en-IN" sz="2400" b="1" dirty="0">
                <a:solidFill>
                  <a:schemeClr val="accent3">
                    <a:lumMod val="50000"/>
                  </a:schemeClr>
                </a:solidFill>
              </a:rPr>
              <a:t>Data Inconsistency</a:t>
            </a:r>
          </a:p>
          <a:p>
            <a:pPr algn="ctr">
              <a:spcAft>
                <a:spcPts val="600"/>
              </a:spcAft>
            </a:pPr>
            <a:endParaRPr lang="en-IN" b="1" dirty="0"/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Missing Values – </a:t>
            </a:r>
            <a:r>
              <a:rPr lang="en-IN" u="sng" dirty="0">
                <a:solidFill>
                  <a:schemeClr val="bg1"/>
                </a:solidFill>
              </a:rPr>
              <a:t>on Data and as well as on KPI data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Structural Errors – </a:t>
            </a:r>
            <a:r>
              <a:rPr lang="en-IN" u="sng" dirty="0">
                <a:solidFill>
                  <a:schemeClr val="bg1"/>
                </a:solidFill>
              </a:rPr>
              <a:t>like case sensitivity issues, special/random characters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Outliers – like negative values on Amount and Quantity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Empty Vendor Names – wrongly entered data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Duplicate Records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Irrelevant </a:t>
            </a:r>
            <a:r>
              <a:rPr lang="en-IN">
                <a:solidFill>
                  <a:schemeClr val="bg1"/>
                </a:solidFill>
              </a:rPr>
              <a:t>Item Names</a:t>
            </a:r>
            <a:endParaRPr lang="en-IN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endParaRPr lang="en-IN" dirty="0"/>
          </a:p>
          <a:p>
            <a:pPr algn="ctr">
              <a:spcAft>
                <a:spcPts val="600"/>
              </a:spcAft>
            </a:pPr>
            <a:endParaRPr lang="en-IN" b="1" dirty="0"/>
          </a:p>
          <a:p>
            <a:pPr algn="ctr">
              <a:spcAft>
                <a:spcPts val="600"/>
              </a:spcAft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2530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7B69E4-8362-417C-DDF0-FB39FBC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AE4726C-1831-4FE3-9A11-227F0DC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2" name="Rectangle 11">
              <a:extLst>
                <a:ext uri="{FF2B5EF4-FFF2-40B4-BE49-F238E27FC236}">
                  <a16:creationId xmlns:a16="http://schemas.microsoft.com/office/drawing/2014/main" id="{B651D7F7-8C54-448E-A268-1CBFAD87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E3B56E94-40E1-489A-98B2-A3238D66A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89BBA3F-C569-8243-EC0A-781FAA911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6377" y="0"/>
            <a:ext cx="6050713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CHALLENGES FACED</a:t>
            </a:r>
          </a:p>
        </p:txBody>
      </p:sp>
      <p:pic>
        <p:nvPicPr>
          <p:cNvPr id="7" name="Picture 6" descr="Solo journey">
            <a:extLst>
              <a:ext uri="{FF2B5EF4-FFF2-40B4-BE49-F238E27FC236}">
                <a16:creationId xmlns:a16="http://schemas.microsoft.com/office/drawing/2014/main" id="{1BC42880-211F-D599-227F-B1B2505B64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068" r="20236"/>
          <a:stretch>
            <a:fillRect/>
          </a:stretch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E916825F-759B-4F1A-BA80-AF7137691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AF64541-DE3B-4DBB-84E1-907956469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9175DCC0-514A-4CA1-AD9A-1BB0FFF1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10371924-94D9-48AF-9D5B-6471775B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C964FF9-A41A-438C-A22B-62690C98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61716CD6-1875-4567-B3E2-364CD0960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31A293D3-7189-453D-AB91-1291AAFF3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87CB4EFE-58B3-4326-9CFB-A2AFADDFA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249CF4D3-B5A3-4287-BC9D-E9BB8FA6E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4D2515F2-4D11-41AF-A6B1-7D084BEA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id="{331BCBF4-0DC2-426E-84B3-AE38E403C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EC8AF156-0BE9-437D-A83B-87364146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AC8CB256-3F62-4406-88F5-CE2421FF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F3E812EB-415E-4B60-B0FB-65386882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EB4C95D7-8E6D-45EC-8CA1-9123D71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83F62FD2-2F62-4495-997C-8BD7F95AB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B7DFE0F9-22A3-4846-8D4E-0D193BD3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id="{244DAF25-7415-491A-9FF6-E04BC2DC2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id="{7ACA3646-863C-4D00-A58A-62C7FE71C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0EA18B38-BD42-45ED-8458-FB205DBC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45302917-5DBE-4CF2-B52F-478F93FD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5">
              <a:extLst>
                <a:ext uri="{FF2B5EF4-FFF2-40B4-BE49-F238E27FC236}">
                  <a16:creationId xmlns:a16="http://schemas.microsoft.com/office/drawing/2014/main" id="{8E61E6FD-D40E-479C-ABE9-2B69AE20D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2F4DEB4F-F824-48D7-AF9B-B5D905DCD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F76CFA02-6090-4464-B573-BCA350C90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51BE8BEC-76C7-41FE-AB76-35194C244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710F61D4-3B34-45A9-B9B7-CE0373AB4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451F080F-4CFB-4626-87CA-BB4CACA1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1">
              <a:extLst>
                <a:ext uri="{FF2B5EF4-FFF2-40B4-BE49-F238E27FC236}">
                  <a16:creationId xmlns:a16="http://schemas.microsoft.com/office/drawing/2014/main" id="{667BBD71-2295-4A66-B76C-F82175C2B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2">
              <a:extLst>
                <a:ext uri="{FF2B5EF4-FFF2-40B4-BE49-F238E27FC236}">
                  <a16:creationId xmlns:a16="http://schemas.microsoft.com/office/drawing/2014/main" id="{B6644DE8-5BD1-4D5F-B245-0D3A21BCE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4DE8FD0-E681-4D9C-85C2-BEA4C2B3A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4">
              <a:extLst>
                <a:ext uri="{FF2B5EF4-FFF2-40B4-BE49-F238E27FC236}">
                  <a16:creationId xmlns:a16="http://schemas.microsoft.com/office/drawing/2014/main" id="{D46033BD-1026-4388-B926-9D11E1D7C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5">
              <a:extLst>
                <a:ext uri="{FF2B5EF4-FFF2-40B4-BE49-F238E27FC236}">
                  <a16:creationId xmlns:a16="http://schemas.microsoft.com/office/drawing/2014/main" id="{1FA74D4C-2E28-42C5-A7FA-3C7D6BD8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36">
              <a:extLst>
                <a:ext uri="{FF2B5EF4-FFF2-40B4-BE49-F238E27FC236}">
                  <a16:creationId xmlns:a16="http://schemas.microsoft.com/office/drawing/2014/main" id="{FADF7B3F-903C-456C-983E-C9868DDAB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37">
              <a:extLst>
                <a:ext uri="{FF2B5EF4-FFF2-40B4-BE49-F238E27FC236}">
                  <a16:creationId xmlns:a16="http://schemas.microsoft.com/office/drawing/2014/main" id="{033F8698-1549-44AD-8DAD-0055D7B80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38">
              <a:extLst>
                <a:ext uri="{FF2B5EF4-FFF2-40B4-BE49-F238E27FC236}">
                  <a16:creationId xmlns:a16="http://schemas.microsoft.com/office/drawing/2014/main" id="{F1BDD4B6-46FD-4048-ADF1-32EADD9E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39">
              <a:extLst>
                <a:ext uri="{FF2B5EF4-FFF2-40B4-BE49-F238E27FC236}">
                  <a16:creationId xmlns:a16="http://schemas.microsoft.com/office/drawing/2014/main" id="{E7F387A7-B3BF-4B1A-BFCA-2D21AD3DF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0">
              <a:extLst>
                <a:ext uri="{FF2B5EF4-FFF2-40B4-BE49-F238E27FC236}">
                  <a16:creationId xmlns:a16="http://schemas.microsoft.com/office/drawing/2014/main" id="{7A1B6BC8-EA82-459D-A0E0-4EBE394E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41">
              <a:extLst>
                <a:ext uri="{FF2B5EF4-FFF2-40B4-BE49-F238E27FC236}">
                  <a16:creationId xmlns:a16="http://schemas.microsoft.com/office/drawing/2014/main" id="{8B94E190-DDC2-4545-906F-A1699BD73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2">
              <a:extLst>
                <a:ext uri="{FF2B5EF4-FFF2-40B4-BE49-F238E27FC236}">
                  <a16:creationId xmlns:a16="http://schemas.microsoft.com/office/drawing/2014/main" id="{D9807239-A5BA-4BB3-9194-BCE3B2F21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3">
              <a:extLst>
                <a:ext uri="{FF2B5EF4-FFF2-40B4-BE49-F238E27FC236}">
                  <a16:creationId xmlns:a16="http://schemas.microsoft.com/office/drawing/2014/main" id="{04D300FD-DC53-4375-8981-09EA63BCF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4">
              <a:extLst>
                <a:ext uri="{FF2B5EF4-FFF2-40B4-BE49-F238E27FC236}">
                  <a16:creationId xmlns:a16="http://schemas.microsoft.com/office/drawing/2014/main" id="{1DF83FFD-4C16-41FD-928F-6E88AFC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5B4BC2F-B667-462B-99D8-0C433124A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46">
              <a:extLst>
                <a:ext uri="{FF2B5EF4-FFF2-40B4-BE49-F238E27FC236}">
                  <a16:creationId xmlns:a16="http://schemas.microsoft.com/office/drawing/2014/main" id="{0CBD9EFB-AC61-4674-B75A-56449003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47">
              <a:extLst>
                <a:ext uri="{FF2B5EF4-FFF2-40B4-BE49-F238E27FC236}">
                  <a16:creationId xmlns:a16="http://schemas.microsoft.com/office/drawing/2014/main" id="{1AD4BBB0-F6A7-451F-BE09-DF619F38E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48">
              <a:extLst>
                <a:ext uri="{FF2B5EF4-FFF2-40B4-BE49-F238E27FC236}">
                  <a16:creationId xmlns:a16="http://schemas.microsoft.com/office/drawing/2014/main" id="{A258B285-AE5E-473A-AA72-3C95E1D8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49">
              <a:extLst>
                <a:ext uri="{FF2B5EF4-FFF2-40B4-BE49-F238E27FC236}">
                  <a16:creationId xmlns:a16="http://schemas.microsoft.com/office/drawing/2014/main" id="{7BEEDDE5-CB8A-4DF9-858F-4D9462D9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0">
              <a:extLst>
                <a:ext uri="{FF2B5EF4-FFF2-40B4-BE49-F238E27FC236}">
                  <a16:creationId xmlns:a16="http://schemas.microsoft.com/office/drawing/2014/main" id="{DA1C731B-9B66-4D65-BF47-04B11810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1">
              <a:extLst>
                <a:ext uri="{FF2B5EF4-FFF2-40B4-BE49-F238E27FC236}">
                  <a16:creationId xmlns:a16="http://schemas.microsoft.com/office/drawing/2014/main" id="{58DBFEC6-C6DC-4B7A-934F-5A79EC32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2">
              <a:extLst>
                <a:ext uri="{FF2B5EF4-FFF2-40B4-BE49-F238E27FC236}">
                  <a16:creationId xmlns:a16="http://schemas.microsoft.com/office/drawing/2014/main" id="{9948D8CB-2DBE-4E48-98EA-DF9E2666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3">
              <a:extLst>
                <a:ext uri="{FF2B5EF4-FFF2-40B4-BE49-F238E27FC236}">
                  <a16:creationId xmlns:a16="http://schemas.microsoft.com/office/drawing/2014/main" id="{56AB69F6-9F0B-4AB6-BCA8-AA2FD69E9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4">
              <a:extLst>
                <a:ext uri="{FF2B5EF4-FFF2-40B4-BE49-F238E27FC236}">
                  <a16:creationId xmlns:a16="http://schemas.microsoft.com/office/drawing/2014/main" id="{0E7FB426-288D-4B0B-B73B-10CCC0EF4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6" name="Freeform 55">
              <a:extLst>
                <a:ext uri="{FF2B5EF4-FFF2-40B4-BE49-F238E27FC236}">
                  <a16:creationId xmlns:a16="http://schemas.microsoft.com/office/drawing/2014/main" id="{A5C59C6B-46C9-48C9-9F57-2EE738B5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Freeform 56">
              <a:extLst>
                <a:ext uri="{FF2B5EF4-FFF2-40B4-BE49-F238E27FC236}">
                  <a16:creationId xmlns:a16="http://schemas.microsoft.com/office/drawing/2014/main" id="{7CE85F33-17DC-4273-B06F-D17109444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Freeform 57">
              <a:extLst>
                <a:ext uri="{FF2B5EF4-FFF2-40B4-BE49-F238E27FC236}">
                  <a16:creationId xmlns:a16="http://schemas.microsoft.com/office/drawing/2014/main" id="{5CD001CF-F2C4-4810-A8D9-679F9F89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Freeform 58">
              <a:extLst>
                <a:ext uri="{FF2B5EF4-FFF2-40B4-BE49-F238E27FC236}">
                  <a16:creationId xmlns:a16="http://schemas.microsoft.com/office/drawing/2014/main" id="{69F4BCDD-D153-40D2-8DD1-2509EE0CE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9D481F7-D7EE-4E08-0FE9-C3FA69F0B220}"/>
              </a:ext>
            </a:extLst>
          </p:cNvPr>
          <p:cNvSpPr/>
          <p:nvPr/>
        </p:nvSpPr>
        <p:spPr>
          <a:xfrm>
            <a:off x="3698959" y="1209040"/>
            <a:ext cx="4296961" cy="3749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buSzPct val="125000"/>
            </a:pP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</a:rPr>
              <a:t>Quality Issues Identified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  <a:p>
            <a:pPr marL="34290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Invoices Details contained various items, rate per kg, total amount all together</a:t>
            </a:r>
          </a:p>
          <a:p>
            <a:pPr marL="34290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Non-uniform entries in invoices</a:t>
            </a:r>
          </a:p>
          <a:p>
            <a:pPr marL="34290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Items relevant to respective Business Verticals –  Nomenclature issues</a:t>
            </a:r>
          </a:p>
          <a:p>
            <a:pPr marL="34290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Undefined Categories/ Product codes – manually created lookup table to map</a:t>
            </a:r>
          </a:p>
          <a:p>
            <a:pPr marL="34290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A47D17-0391-0D06-2017-6384FB86E920}"/>
              </a:ext>
            </a:extLst>
          </p:cNvPr>
          <p:cNvSpPr/>
          <p:nvPr/>
        </p:nvSpPr>
        <p:spPr>
          <a:xfrm>
            <a:off x="3691708" y="5069840"/>
            <a:ext cx="8500292" cy="16052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IN" sz="2400" b="1" dirty="0">
              <a:solidFill>
                <a:schemeClr val="accent3">
                  <a:lumMod val="50000"/>
                </a:schemeClr>
              </a:solidFill>
            </a:endParaRPr>
          </a:p>
          <a:p>
            <a:pPr algn="ctr">
              <a:spcAft>
                <a:spcPts val="600"/>
              </a:spcAft>
            </a:pPr>
            <a:r>
              <a:rPr lang="en-IN" sz="2400" b="1" dirty="0">
                <a:solidFill>
                  <a:schemeClr val="accent3">
                    <a:lumMod val="50000"/>
                  </a:schemeClr>
                </a:solidFill>
              </a:rPr>
              <a:t>Conditional Imputation for Compliance</a:t>
            </a:r>
            <a:endParaRPr lang="en-IN" b="1" dirty="0"/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GSTIN not applicable to all vendors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Validated/registered Vendor Status – Compliant</a:t>
            </a:r>
          </a:p>
          <a:p>
            <a:pPr algn="ctr">
              <a:spcAft>
                <a:spcPts val="600"/>
              </a:spcAft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05764C-084E-0B35-84F9-5A308AE419AA}"/>
              </a:ext>
            </a:extLst>
          </p:cNvPr>
          <p:cNvSpPr/>
          <p:nvPr/>
        </p:nvSpPr>
        <p:spPr>
          <a:xfrm>
            <a:off x="8138161" y="1148080"/>
            <a:ext cx="4053840" cy="37896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IN" sz="2400" b="1" dirty="0">
                <a:solidFill>
                  <a:schemeClr val="accent3">
                    <a:lumMod val="50000"/>
                  </a:schemeClr>
                </a:solidFill>
              </a:rPr>
              <a:t>No </a:t>
            </a:r>
            <a:r>
              <a:rPr lang="en-IN" sz="2400" b="1" u="sng" dirty="0">
                <a:solidFill>
                  <a:schemeClr val="accent3">
                    <a:lumMod val="50000"/>
                  </a:schemeClr>
                </a:solidFill>
              </a:rPr>
              <a:t>Common</a:t>
            </a:r>
            <a:r>
              <a:rPr lang="en-IN" sz="2400" b="1" dirty="0">
                <a:solidFill>
                  <a:schemeClr val="accent3">
                    <a:lumMod val="50000"/>
                  </a:schemeClr>
                </a:solidFill>
              </a:rPr>
              <a:t> Key on Qualitative KPIs</a:t>
            </a:r>
          </a:p>
          <a:p>
            <a:pPr algn="ctr">
              <a:spcAft>
                <a:spcPts val="600"/>
              </a:spcAft>
            </a:pPr>
            <a:endParaRPr lang="en-IN" b="1" dirty="0"/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The </a:t>
            </a:r>
            <a:r>
              <a:rPr lang="en-IN" u="sng" dirty="0">
                <a:solidFill>
                  <a:schemeClr val="bg1"/>
                </a:solidFill>
              </a:rPr>
              <a:t>Common</a:t>
            </a:r>
            <a:r>
              <a:rPr lang="en-IN" dirty="0">
                <a:solidFill>
                  <a:schemeClr val="bg1"/>
                </a:solidFill>
              </a:rPr>
              <a:t> Key is different in Vendors Data and the Quality KPI data </a:t>
            </a:r>
            <a:r>
              <a:rPr lang="en-IN" dirty="0">
                <a:solidFill>
                  <a:srgbClr val="FF0000"/>
                </a:solidFill>
              </a:rPr>
              <a:t>(WIP to understand and identify how to stitch this data for qualitative analysis)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Location not available for 200-300 vendors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IN" u="sng" dirty="0">
                <a:solidFill>
                  <a:schemeClr val="bg1"/>
                </a:solidFill>
              </a:rPr>
              <a:t>Debit note not properly maintained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2733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85E8C-B4BB-A4FB-1505-ABCECB0A3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792EF-7389-3AFF-0667-54569AF64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036" y="-335280"/>
            <a:ext cx="9905998" cy="1478570"/>
          </a:xfrm>
        </p:spPr>
        <p:txBody>
          <a:bodyPr/>
          <a:lstStyle/>
          <a:p>
            <a:r>
              <a:rPr lang="en-IN" dirty="0"/>
              <a:t>DATA CLEANING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96D7B5-E84C-A3F2-80CF-25379F35B8E6}"/>
              </a:ext>
            </a:extLst>
          </p:cNvPr>
          <p:cNvSpPr/>
          <p:nvPr/>
        </p:nvSpPr>
        <p:spPr>
          <a:xfrm>
            <a:off x="975360" y="690880"/>
            <a:ext cx="7701280" cy="5313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rgbClr val="532376"/>
                </a:solidFill>
              </a:rPr>
              <a:t>Cleaning &amp; Imputation</a:t>
            </a:r>
          </a:p>
          <a:p>
            <a:pPr algn="ctr"/>
            <a:endParaRPr lang="en-IN" dirty="0">
              <a:solidFill>
                <a:schemeClr val="accent4">
                  <a:lumMod val="75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Data received from ZOHO Books VMS – 2019_2025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Data transformation  steps: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Load and check on null values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Vendor Data Handling for null values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Invoice Status Handling – Conditional Imputation on Categorical values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Business Vertical Standardization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Item Details transformation – multiple items on one invoice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Items reclassification into categories and business verticals using lookup tables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Rate Imputation using Hierarchical Median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Quantity imputation using grouping and median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Total Amount Imputation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GST value considerations for relevant items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Deduplicating data if any</a:t>
            </a: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Data Understanding for Rate and Total Amount = 0 for certain invoices/items</a:t>
            </a:r>
          </a:p>
          <a:p>
            <a:pPr lvl="1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F3C3D8-8F61-D94D-6CCD-599CAD20DFE6}"/>
              </a:ext>
            </a:extLst>
          </p:cNvPr>
          <p:cNvSpPr/>
          <p:nvPr/>
        </p:nvSpPr>
        <p:spPr>
          <a:xfrm>
            <a:off x="8832669" y="1767840"/>
            <a:ext cx="3034211" cy="27228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3">
                    <a:lumMod val="50000"/>
                  </a:schemeClr>
                </a:solidFill>
              </a:rPr>
              <a:t>Suggestion to Saahas Zero Waste</a:t>
            </a:r>
          </a:p>
          <a:p>
            <a:pPr algn="ctr"/>
            <a:endParaRPr lang="en-IN" sz="2400" b="1" dirty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en-IN" sz="2000" b="1" i="1" dirty="0">
                <a:solidFill>
                  <a:srgbClr val="FF0000"/>
                </a:solidFill>
              </a:rPr>
              <a:t>Proper</a:t>
            </a:r>
            <a:r>
              <a:rPr lang="en-IN" sz="2000" i="1" dirty="0">
                <a:solidFill>
                  <a:schemeClr val="tx1"/>
                </a:solidFill>
              </a:rPr>
              <a:t> </a:t>
            </a:r>
            <a:r>
              <a:rPr lang="en-IN" sz="2000" i="1" dirty="0">
                <a:solidFill>
                  <a:schemeClr val="bg1"/>
                </a:solidFill>
              </a:rPr>
              <a:t>DATA MANAGEMENT SYSTEM in future for Analysis</a:t>
            </a:r>
            <a:endParaRPr lang="en-I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166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9A147-5B47-6BA6-A4FE-62D9F4F33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A8CB95-6B16-12C1-6461-5CEF96E63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037251" cy="1088362"/>
          </a:xfrm>
        </p:spPr>
        <p:txBody>
          <a:bodyPr/>
          <a:lstStyle/>
          <a:p>
            <a:pPr algn="ctr"/>
            <a:r>
              <a:rPr lang="en-IN" dirty="0"/>
              <a:t>EWASTE Understanding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7172BE0-7A16-B2E6-45F7-BB0FBDC010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0779002"/>
              </p:ext>
            </p:extLst>
          </p:nvPr>
        </p:nvGraphicFramePr>
        <p:xfrm>
          <a:off x="946625" y="90759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6" name="Chart 5">
                <a:extLst>
                  <a:ext uri="{FF2B5EF4-FFF2-40B4-BE49-F238E27FC236}">
                    <a16:creationId xmlns:a16="http://schemas.microsoft.com/office/drawing/2014/main" id="{DAB31115-ED19-2199-50D3-396DBDC0C23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89388506"/>
                  </p:ext>
                </p:extLst>
              </p:nvPr>
            </p:nvGraphicFramePr>
            <p:xfrm>
              <a:off x="6787606" y="690880"/>
              <a:ext cx="4572000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6" name="Chart 5">
                <a:extLst>
                  <a:ext uri="{FF2B5EF4-FFF2-40B4-BE49-F238E27FC236}">
                    <a16:creationId xmlns:a16="http://schemas.microsoft.com/office/drawing/2014/main" id="{DAB31115-ED19-2199-50D3-396DBDC0C23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87606" y="690880"/>
                <a:ext cx="4572000" cy="27432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6BDF97A9-C2BC-09B4-C1A3-7194CF6A5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970" y="3782876"/>
            <a:ext cx="10440670" cy="2818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8638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625F5-819B-5F4F-6571-1C15208AE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BFA22F-5B89-CEC6-10BD-5E1D96CFD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EDA FOR 4 major business verticals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8958FA2-58BC-686E-1400-88306FA567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0095129"/>
              </p:ext>
            </p:extLst>
          </p:nvPr>
        </p:nvGraphicFramePr>
        <p:xfrm>
          <a:off x="0" y="1665497"/>
          <a:ext cx="5251720" cy="3717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438F2B0-0DF1-30E9-A7BF-26F89771C2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9478860"/>
              </p:ext>
            </p:extLst>
          </p:nvPr>
        </p:nvGraphicFramePr>
        <p:xfrm>
          <a:off x="5730240" y="178308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3471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5BD33659-8797-414B-BBDC-24F942329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810FE48-5F0C-4E97-BD7F-FDE128D85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9E9C04BA-ABF7-4D41-9977-2AC221BD4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56AF6CAB-66FF-4AA8-8332-92421FA16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2A7D0399-D212-4CE1-A9C0-9B98A2F0C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Rectangle 8">
              <a:extLst>
                <a:ext uri="{FF2B5EF4-FFF2-40B4-BE49-F238E27FC236}">
                  <a16:creationId xmlns:a16="http://schemas.microsoft.com/office/drawing/2014/main" id="{18DF3D3C-1A48-496B-B941-76DF67EA7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913F4BC7-7179-4E16-9FD6-A32BC13A0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09355FA-2026-4EBE-8C72-9B94B1F1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CDD190A1-6E3E-4C34-A19B-A52C6D3179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D5BA1962-F2E3-4CA2-BE44-53381D18F6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C2FA9E59-0DE1-449C-8D17-1475D5CC7E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F1582807-3DE3-42F1-9941-728273E08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6C574FB1-69C5-49C2-A1C4-2A6590BF4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D4175D29-82CB-41CD-9E0F-17524FB027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9893387B-BD94-47D2-80DC-B9ADB6BD9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BC2223CF-E8B9-48C3-8E70-7B38DBE2A7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CB660EF5-7021-48D0-B131-DA22FAF8D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7A02052F-7B58-4423-9CBA-27D8D838A9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1">
              <a:extLst>
                <a:ext uri="{FF2B5EF4-FFF2-40B4-BE49-F238E27FC236}">
                  <a16:creationId xmlns:a16="http://schemas.microsoft.com/office/drawing/2014/main" id="{42231171-7F2B-4B11-B34A-D98DB4143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2">
              <a:extLst>
                <a:ext uri="{FF2B5EF4-FFF2-40B4-BE49-F238E27FC236}">
                  <a16:creationId xmlns:a16="http://schemas.microsoft.com/office/drawing/2014/main" id="{AED192E7-1105-4649-8D4D-C86FFEDF6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3">
              <a:extLst>
                <a:ext uri="{FF2B5EF4-FFF2-40B4-BE49-F238E27FC236}">
                  <a16:creationId xmlns:a16="http://schemas.microsoft.com/office/drawing/2014/main" id="{8BA48BFE-2223-4E9C-A0EE-DE11843C3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4">
              <a:extLst>
                <a:ext uri="{FF2B5EF4-FFF2-40B4-BE49-F238E27FC236}">
                  <a16:creationId xmlns:a16="http://schemas.microsoft.com/office/drawing/2014/main" id="{B3FB57C9-C83B-4ADC-8E93-312492D43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id="{AF6405A6-6E98-40DD-945A-E6D969231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id="{2D181A4A-23A5-4683-9F05-61228AD26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201ABEF6-F58B-46EC-85FB-228E60962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D6EBECB6-1B5C-43E5-84BF-8D5385C030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29">
              <a:extLst>
                <a:ext uri="{FF2B5EF4-FFF2-40B4-BE49-F238E27FC236}">
                  <a16:creationId xmlns:a16="http://schemas.microsoft.com/office/drawing/2014/main" id="{6D5B4EBF-EF44-4914-AE66-247EF3D35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0">
              <a:extLst>
                <a:ext uri="{FF2B5EF4-FFF2-40B4-BE49-F238E27FC236}">
                  <a16:creationId xmlns:a16="http://schemas.microsoft.com/office/drawing/2014/main" id="{43593E76-10EF-45B3-86EB-CA59047CC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FC3720B0-AA35-49D1-B5A6-9215D0138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2">
              <a:extLst>
                <a:ext uri="{FF2B5EF4-FFF2-40B4-BE49-F238E27FC236}">
                  <a16:creationId xmlns:a16="http://schemas.microsoft.com/office/drawing/2014/main" id="{EEE267FA-B493-44EE-B372-8CB3A0450D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Rectangle 33">
              <a:extLst>
                <a:ext uri="{FF2B5EF4-FFF2-40B4-BE49-F238E27FC236}">
                  <a16:creationId xmlns:a16="http://schemas.microsoft.com/office/drawing/2014/main" id="{3DA75F6F-8EDF-4DF8-89BF-9C1137D172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4">
              <a:extLst>
                <a:ext uri="{FF2B5EF4-FFF2-40B4-BE49-F238E27FC236}">
                  <a16:creationId xmlns:a16="http://schemas.microsoft.com/office/drawing/2014/main" id="{5BEEC465-A6AB-47E5-8FB5-DCA91F165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35">
              <a:extLst>
                <a:ext uri="{FF2B5EF4-FFF2-40B4-BE49-F238E27FC236}">
                  <a16:creationId xmlns:a16="http://schemas.microsoft.com/office/drawing/2014/main" id="{89B9E785-F9F2-4951-8158-002B55126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36">
              <a:extLst>
                <a:ext uri="{FF2B5EF4-FFF2-40B4-BE49-F238E27FC236}">
                  <a16:creationId xmlns:a16="http://schemas.microsoft.com/office/drawing/2014/main" id="{E1F4058F-C686-4BF1-9DE9-C917CAB90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37">
              <a:extLst>
                <a:ext uri="{FF2B5EF4-FFF2-40B4-BE49-F238E27FC236}">
                  <a16:creationId xmlns:a16="http://schemas.microsoft.com/office/drawing/2014/main" id="{F1337D0C-63AE-4024-A976-139287761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38">
              <a:extLst>
                <a:ext uri="{FF2B5EF4-FFF2-40B4-BE49-F238E27FC236}">
                  <a16:creationId xmlns:a16="http://schemas.microsoft.com/office/drawing/2014/main" id="{7F12E32F-60F1-4DA3-A0B8-05E6AF31D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39">
              <a:extLst>
                <a:ext uri="{FF2B5EF4-FFF2-40B4-BE49-F238E27FC236}">
                  <a16:creationId xmlns:a16="http://schemas.microsoft.com/office/drawing/2014/main" id="{7CC92CAE-5F95-49A9-B9F9-94A1DEE987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40">
              <a:extLst>
                <a:ext uri="{FF2B5EF4-FFF2-40B4-BE49-F238E27FC236}">
                  <a16:creationId xmlns:a16="http://schemas.microsoft.com/office/drawing/2014/main" id="{610BE2B0-1D02-4099-9DD8-339F22FEE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1">
              <a:extLst>
                <a:ext uri="{FF2B5EF4-FFF2-40B4-BE49-F238E27FC236}">
                  <a16:creationId xmlns:a16="http://schemas.microsoft.com/office/drawing/2014/main" id="{E10409A3-2BB1-41E7-90AE-3D296FC1F7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2">
              <a:extLst>
                <a:ext uri="{FF2B5EF4-FFF2-40B4-BE49-F238E27FC236}">
                  <a16:creationId xmlns:a16="http://schemas.microsoft.com/office/drawing/2014/main" id="{F8F8E99E-F806-4235-ADFB-25B49D4A8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3">
              <a:extLst>
                <a:ext uri="{FF2B5EF4-FFF2-40B4-BE49-F238E27FC236}">
                  <a16:creationId xmlns:a16="http://schemas.microsoft.com/office/drawing/2014/main" id="{3C4715E6-9985-446B-ADB4-B822729888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4">
              <a:extLst>
                <a:ext uri="{FF2B5EF4-FFF2-40B4-BE49-F238E27FC236}">
                  <a16:creationId xmlns:a16="http://schemas.microsoft.com/office/drawing/2014/main" id="{071C6B3A-09E9-4DEC-ADEE-FA919B782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Rectangle 45">
              <a:extLst>
                <a:ext uri="{FF2B5EF4-FFF2-40B4-BE49-F238E27FC236}">
                  <a16:creationId xmlns:a16="http://schemas.microsoft.com/office/drawing/2014/main" id="{DE1E82C9-0A74-451A-A063-6818E33B0E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46">
              <a:extLst>
                <a:ext uri="{FF2B5EF4-FFF2-40B4-BE49-F238E27FC236}">
                  <a16:creationId xmlns:a16="http://schemas.microsoft.com/office/drawing/2014/main" id="{F3662B80-5B88-475B-89A9-8E6AFBDCAC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47">
              <a:extLst>
                <a:ext uri="{FF2B5EF4-FFF2-40B4-BE49-F238E27FC236}">
                  <a16:creationId xmlns:a16="http://schemas.microsoft.com/office/drawing/2014/main" id="{ECA55A40-ECA9-4F56-9D04-8C68C1910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48">
              <a:extLst>
                <a:ext uri="{FF2B5EF4-FFF2-40B4-BE49-F238E27FC236}">
                  <a16:creationId xmlns:a16="http://schemas.microsoft.com/office/drawing/2014/main" id="{D1CED64C-F0D9-4EA6-B88B-E4795F81D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49">
              <a:extLst>
                <a:ext uri="{FF2B5EF4-FFF2-40B4-BE49-F238E27FC236}">
                  <a16:creationId xmlns:a16="http://schemas.microsoft.com/office/drawing/2014/main" id="{4641FE6D-04B5-4BBE-B700-E3A0C057B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0">
              <a:extLst>
                <a:ext uri="{FF2B5EF4-FFF2-40B4-BE49-F238E27FC236}">
                  <a16:creationId xmlns:a16="http://schemas.microsoft.com/office/drawing/2014/main" id="{1426A56A-D27A-4C9A-A74C-5A73E5AD6F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1">
              <a:extLst>
                <a:ext uri="{FF2B5EF4-FFF2-40B4-BE49-F238E27FC236}">
                  <a16:creationId xmlns:a16="http://schemas.microsoft.com/office/drawing/2014/main" id="{0D2887A6-6597-4932-AEA0-A1B3C719B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2">
              <a:extLst>
                <a:ext uri="{FF2B5EF4-FFF2-40B4-BE49-F238E27FC236}">
                  <a16:creationId xmlns:a16="http://schemas.microsoft.com/office/drawing/2014/main" id="{32CCC3DB-409A-48A3-A79A-2E37A9603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3">
              <a:extLst>
                <a:ext uri="{FF2B5EF4-FFF2-40B4-BE49-F238E27FC236}">
                  <a16:creationId xmlns:a16="http://schemas.microsoft.com/office/drawing/2014/main" id="{1C2C9C8A-AD45-4AA6-817C-3010FCF20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6" name="Freeform 54">
              <a:extLst>
                <a:ext uri="{FF2B5EF4-FFF2-40B4-BE49-F238E27FC236}">
                  <a16:creationId xmlns:a16="http://schemas.microsoft.com/office/drawing/2014/main" id="{BD8D346A-C641-4BD2-B5AE-C48CC6A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Freeform 55">
              <a:extLst>
                <a:ext uri="{FF2B5EF4-FFF2-40B4-BE49-F238E27FC236}">
                  <a16:creationId xmlns:a16="http://schemas.microsoft.com/office/drawing/2014/main" id="{6BD8EEEB-07A6-4582-9E40-4AA094FED4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Freeform 56">
              <a:extLst>
                <a:ext uri="{FF2B5EF4-FFF2-40B4-BE49-F238E27FC236}">
                  <a16:creationId xmlns:a16="http://schemas.microsoft.com/office/drawing/2014/main" id="{9E6A63A8-37FA-425D-86BE-BF9A568AFE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Freeform 57">
              <a:extLst>
                <a:ext uri="{FF2B5EF4-FFF2-40B4-BE49-F238E27FC236}">
                  <a16:creationId xmlns:a16="http://schemas.microsoft.com/office/drawing/2014/main" id="{3F5FAEF2-49E0-4F5C-A6D4-26C2FE15F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Freeform 58">
              <a:extLst>
                <a:ext uri="{FF2B5EF4-FFF2-40B4-BE49-F238E27FC236}">
                  <a16:creationId xmlns:a16="http://schemas.microsoft.com/office/drawing/2014/main" id="{BF106702-ED0E-4145-BF3A-08F15BCC2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E05E8C-320F-403C-4BC1-E6D7C7E65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831" y="145905"/>
            <a:ext cx="6814729" cy="55513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dirty="0"/>
              <a:t>Hypothesis testing</a:t>
            </a:r>
          </a:p>
        </p:txBody>
      </p:sp>
      <p:sp>
        <p:nvSpPr>
          <p:cNvPr id="72" name="Round Diagonal Corner Rectangle 6">
            <a:extLst>
              <a:ext uri="{FF2B5EF4-FFF2-40B4-BE49-F238E27FC236}">
                <a16:creationId xmlns:a16="http://schemas.microsoft.com/office/drawing/2014/main" id="{81688A21-82FC-4211-B35C-FA91352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0945" y="0"/>
            <a:ext cx="4631055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63500" dist="12700" dir="10800000">
              <a:prstClr val="black">
                <a:alpha val="4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D6B9C7FB-C2B4-4913-BFB3-91EC0F40A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0945" y="2286000"/>
            <a:ext cx="4636008" cy="91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B2DCD120-0157-45D7-A8E7-72F4E341A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0945" y="4572000"/>
            <a:ext cx="4636008" cy="914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23FB6C-99DE-A215-57AE-25689CB22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60" y="4201733"/>
            <a:ext cx="6217920" cy="1010410"/>
          </a:xfrm>
          <a:prstGeom prst="rect">
            <a:avLst/>
          </a:prstGeom>
          <a:ln w="25400">
            <a:solidFill>
              <a:schemeClr val="accent5"/>
            </a:solidFill>
          </a:ln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4C094734-13E7-B8E0-A6B9-D57FD4AAF4A5}"/>
              </a:ext>
            </a:extLst>
          </p:cNvPr>
          <p:cNvSpPr txBox="1">
            <a:spLocks/>
          </p:cNvSpPr>
          <p:nvPr/>
        </p:nvSpPr>
        <p:spPr>
          <a:xfrm>
            <a:off x="7477760" y="132081"/>
            <a:ext cx="4582160" cy="1625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</a:rPr>
              <a:t>Clustering approach – </a:t>
            </a:r>
            <a:r>
              <a:rPr lang="en-US" sz="2100" dirty="0">
                <a:solidFill>
                  <a:schemeClr val="bg1"/>
                </a:solidFill>
              </a:rPr>
              <a:t>recommendation of vendors by segmentation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C7BAE45-E34A-23CD-D4DB-2FDA0CA08434}"/>
              </a:ext>
            </a:extLst>
          </p:cNvPr>
          <p:cNvSpPr/>
          <p:nvPr/>
        </p:nvSpPr>
        <p:spPr>
          <a:xfrm>
            <a:off x="7569200" y="2357120"/>
            <a:ext cx="4602480" cy="2225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+mj-lt"/>
              <a:buAutoNum type="arabicPeriod"/>
            </a:pPr>
            <a:r>
              <a:rPr lang="en-IN" dirty="0"/>
              <a:t>High volume, High Value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High volume, Low Value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Low Volume, High Value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Low Volume, Low Value - Discard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CF3416-F7BE-4184-1D90-9377DE5C2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840" y="1808480"/>
            <a:ext cx="4464004" cy="2215107"/>
          </a:xfrm>
          <a:prstGeom prst="rect">
            <a:avLst/>
          </a:prstGeom>
          <a:noFill/>
          <a:ln w="25400">
            <a:solidFill>
              <a:schemeClr val="accent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AB5EDC-E419-0858-67A4-9047E244A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741680"/>
            <a:ext cx="6146800" cy="998029"/>
          </a:xfrm>
          <a:prstGeom prst="rect">
            <a:avLst/>
          </a:prstGeom>
          <a:ln w="22225">
            <a:solidFill>
              <a:schemeClr val="accent5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2A0E9E-E2A1-1F0C-0B62-EFA024DDBC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000" y="5455920"/>
            <a:ext cx="6245844" cy="1219200"/>
          </a:xfrm>
          <a:prstGeom prst="rect">
            <a:avLst/>
          </a:prstGeom>
          <a:ln w="25400">
            <a:solidFill>
              <a:schemeClr val="accent5"/>
            </a:solidFill>
          </a:ln>
        </p:spPr>
      </p:pic>
    </p:spTree>
    <p:extLst>
      <p:ext uri="{BB962C8B-B14F-4D97-AF65-F5344CB8AC3E}">
        <p14:creationId xmlns:p14="http://schemas.microsoft.com/office/powerpoint/2010/main" val="41078382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8C32A8-E4D9-473C-833A-8950C6E7C0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03EF818-EDF6-480C-9B86-0A3B979BCC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18BD99-41E9-467C-9777-74587F83171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2142</TotalTime>
  <Words>436</Words>
  <Application>Microsoft Office PowerPoint</Application>
  <PresentationFormat>Widescreen</PresentationFormat>
  <Paragraphs>77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Tw Cen MT</vt:lpstr>
      <vt:lpstr>Circuit</vt:lpstr>
      <vt:lpstr>Business use case – SZW*IIMB  TEAM:  Dipjyoti, Bharathi, Moitreyee, Rajesh</vt:lpstr>
      <vt:lpstr>DATA Source identification &amp; understanding</vt:lpstr>
      <vt:lpstr>CHALLENGES FACED</vt:lpstr>
      <vt:lpstr>DATA CLEANING</vt:lpstr>
      <vt:lpstr>EWASTE Understanding</vt:lpstr>
      <vt:lpstr>EDA FOR 4 major business verticals</vt:lpstr>
      <vt:lpstr>Hypothesis 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Moitreyee Maiti</dc:creator>
  <cp:lastModifiedBy>Rajesh Hegde</cp:lastModifiedBy>
  <cp:revision>86</cp:revision>
  <dcterms:created xsi:type="dcterms:W3CDTF">2026-03-02T05:56:36Z</dcterms:created>
  <dcterms:modified xsi:type="dcterms:W3CDTF">2026-03-05T15:28:24Z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